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400800" cy="8686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77440" y="6720840"/>
            <a:ext cx="1280160" cy="3200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31720" y="7086600"/>
            <a:ext cx="137160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697480" y="6537960"/>
            <a:ext cx="640080" cy="9144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88920" y="3813048"/>
            <a:ext cx="457200" cy="3090672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2916936" y="3858768"/>
            <a:ext cx="0" cy="2999232"/>
          </a:xfrm>
          <a:prstGeom prst="line">
            <a:avLst/>
          </a:prstGeom>
          <a:ln w="9525">
            <a:solidFill>
              <a:srgbClr val="0000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118104" y="3858768"/>
            <a:ext cx="0" cy="2999232"/>
          </a:xfrm>
          <a:prstGeom prst="line">
            <a:avLst/>
          </a:prstGeom>
          <a:ln w="9525">
            <a:solidFill>
              <a:srgbClr val="0000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2747772" y="4256532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204972" y="4256532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47772" y="4942332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204972" y="4942332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747772" y="5628132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204972" y="5628132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47772" y="6313932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204972" y="6313932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2514600" y="868680"/>
            <a:ext cx="0" cy="5852160"/>
          </a:xfrm>
          <a:prstGeom prst="line">
            <a:avLst/>
          </a:prstGeom>
          <a:ln w="254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520440" y="868680"/>
            <a:ext cx="0" cy="5852160"/>
          </a:xfrm>
          <a:prstGeom prst="line">
            <a:avLst/>
          </a:prstGeom>
          <a:ln w="254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514600" y="658368"/>
            <a:ext cx="1005840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514600" y="612647"/>
            <a:ext cx="0" cy="91441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520440" y="612647"/>
            <a:ext cx="0" cy="91441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514600" y="438912"/>
            <a:ext cx="10058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/>
              <a:t>~35 mm (tube ID)</a:t>
            </a:r>
          </a:p>
        </p:txBody>
      </p:sp>
      <p:sp>
        <p:nvSpPr>
          <p:cNvPr id="22" name="Oval 21"/>
          <p:cNvSpPr/>
          <p:nvPr/>
        </p:nvSpPr>
        <p:spPr>
          <a:xfrm>
            <a:off x="2185416" y="154533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57016" y="154533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185416" y="1911095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557016" y="1911095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185416" y="227685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557016" y="227685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185416" y="2642615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557016" y="2642615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15184" y="2935224"/>
            <a:ext cx="804672" cy="877824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2615184" y="4023360"/>
            <a:ext cx="804672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615184" y="3977640"/>
            <a:ext cx="0" cy="9144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419856" y="3977640"/>
            <a:ext cx="0" cy="9144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2615184" y="4078224"/>
            <a:ext cx="80467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/>
              <a:t>28 mm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651760" y="1664208"/>
            <a:ext cx="731520" cy="548640"/>
          </a:xfrm>
          <a:prstGeom prst="rect">
            <a:avLst/>
          </a:prstGeom>
          <a:solidFill>
            <a:srgbClr val="D9D9D9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670048" y="2212848"/>
            <a:ext cx="694944" cy="64008"/>
          </a:xfrm>
          <a:prstGeom prst="rect">
            <a:avLst/>
          </a:prstGeom>
          <a:solidFill>
            <a:srgbClr val="C00000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51760" y="2276856"/>
            <a:ext cx="731520" cy="658368"/>
          </a:xfrm>
          <a:prstGeom prst="rect">
            <a:avLst/>
          </a:prstGeom>
          <a:solidFill>
            <a:srgbClr val="D9D9D9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2651760" y="1481328"/>
            <a:ext cx="731520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651760" y="1435608"/>
            <a:ext cx="0" cy="9144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383280" y="1435608"/>
            <a:ext cx="0" cy="9144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651760" y="1261872"/>
            <a:ext cx="7315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/>
              <a:t>25.5 mm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51760" y="1856231"/>
            <a:ext cx="7315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/>
              <a:t>Tantalum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51760" y="2523744"/>
            <a:ext cx="7315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/>
              <a:t>Tantalum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6032" y="932688"/>
            <a:ext cx="19202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/>
              <a:t>Quartz Tube (Vacuum Chamber)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194560" y="1051560"/>
            <a:ext cx="292608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60120" y="2313432"/>
            <a:ext cx="9601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/>
              <a:t>Induction Coil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956816" y="2432304"/>
            <a:ext cx="210312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4315968" y="2148840"/>
            <a:ext cx="109728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YSZ Specimen</a:t>
            </a:r>
          </a:p>
        </p:txBody>
      </p:sp>
      <p:cxnSp>
        <p:nvCxnSpPr>
          <p:cNvPr id="49" name="Connector 48"/>
          <p:cNvCxnSpPr/>
          <p:nvPr/>
        </p:nvCxnSpPr>
        <p:spPr>
          <a:xfrm flipH="1">
            <a:off x="3383280" y="2244852"/>
            <a:ext cx="896112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4315968" y="3182112"/>
            <a:ext cx="182880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BN Diffusion Barrier</a:t>
            </a:r>
          </a:p>
        </p:txBody>
      </p:sp>
      <p:cxnSp>
        <p:nvCxnSpPr>
          <p:cNvPr id="51" name="Connector 50"/>
          <p:cNvCxnSpPr/>
          <p:nvPr/>
        </p:nvCxnSpPr>
        <p:spPr>
          <a:xfrm flipH="1">
            <a:off x="3456432" y="3291840"/>
            <a:ext cx="822960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4315968" y="4773168"/>
            <a:ext cx="155448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Alumina Support Tube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15968" y="4974336"/>
            <a:ext cx="173736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/>
              <a:t>(lateral evacuation holes)</a:t>
            </a:r>
          </a:p>
        </p:txBody>
      </p:sp>
      <p:cxnSp>
        <p:nvCxnSpPr>
          <p:cNvPr id="54" name="Connector 53"/>
          <p:cNvCxnSpPr/>
          <p:nvPr/>
        </p:nvCxnSpPr>
        <p:spPr>
          <a:xfrm flipH="1">
            <a:off x="3282696" y="4882896"/>
            <a:ext cx="996696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4315968" y="6355080"/>
            <a:ext cx="91440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Teflon Tube</a:t>
            </a:r>
          </a:p>
        </p:txBody>
      </p:sp>
      <p:cxnSp>
        <p:nvCxnSpPr>
          <p:cNvPr id="56" name="Connector 55"/>
          <p:cNvCxnSpPr/>
          <p:nvPr/>
        </p:nvCxnSpPr>
        <p:spPr>
          <a:xfrm flipH="1">
            <a:off x="3355848" y="6464808"/>
            <a:ext cx="923544" cy="164592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4315968" y="6766560"/>
            <a:ext cx="91440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KF40 Fitting</a:t>
            </a:r>
          </a:p>
        </p:txBody>
      </p:sp>
      <p:cxnSp>
        <p:nvCxnSpPr>
          <p:cNvPr id="58" name="Connector 57"/>
          <p:cNvCxnSpPr/>
          <p:nvPr/>
        </p:nvCxnSpPr>
        <p:spPr>
          <a:xfrm flipH="1">
            <a:off x="3694176" y="6876288"/>
            <a:ext cx="585216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315968" y="7242048"/>
            <a:ext cx="91440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KF40 Cross</a:t>
            </a:r>
          </a:p>
        </p:txBody>
      </p:sp>
      <p:cxnSp>
        <p:nvCxnSpPr>
          <p:cNvPr id="60" name="Connector 59"/>
          <p:cNvCxnSpPr/>
          <p:nvPr/>
        </p:nvCxnSpPr>
        <p:spPr>
          <a:xfrm flipH="1">
            <a:off x="3739896" y="7342631"/>
            <a:ext cx="539496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